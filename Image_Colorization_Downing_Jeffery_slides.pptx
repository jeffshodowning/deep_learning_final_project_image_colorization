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420" r:id="rId3"/>
    <p:sldId id="421" r:id="rId4"/>
    <p:sldId id="422" r:id="rId5"/>
    <p:sldId id="423" r:id="rId6"/>
    <p:sldId id="424" r:id="rId7"/>
    <p:sldId id="425" r:id="rId8"/>
    <p:sldId id="435" r:id="rId9"/>
    <p:sldId id="426" r:id="rId10"/>
    <p:sldId id="436" r:id="rId11"/>
    <p:sldId id="427" r:id="rId12"/>
    <p:sldId id="437" r:id="rId13"/>
    <p:sldId id="428" r:id="rId14"/>
    <p:sldId id="430" r:id="rId15"/>
    <p:sldId id="431" r:id="rId16"/>
    <p:sldId id="432" r:id="rId17"/>
    <p:sldId id="438" r:id="rId18"/>
    <p:sldId id="433" r:id="rId19"/>
    <p:sldId id="434" r:id="rId20"/>
    <p:sldId id="419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3" autoAdjust="0"/>
    <p:restoredTop sz="94660"/>
  </p:normalViewPr>
  <p:slideViewPr>
    <p:cSldViewPr>
      <p:cViewPr varScale="1">
        <p:scale>
          <a:sx n="161" d="100"/>
          <a:sy n="161" d="100"/>
        </p:scale>
        <p:origin x="1828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651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18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600" baseline="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theblackmamba31/landscape-image-colorization/data" TargetMode="External"/><Relationship Id="rId2" Type="http://schemas.openxmlformats.org/officeDocument/2006/relationships/hyperlink" Target="https://canvas.harvard.edu/courses/164142/pages/week-5-2?module_item_id=197671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canvas.harvard.edu/courses/164142/pages/week-5-2?module_item_id=1976712" TargetMode="External"/><Relationship Id="rId3" Type="http://schemas.openxmlformats.org/officeDocument/2006/relationships/hyperlink" Target="https://youtu.be/4kajcQwvSkM" TargetMode="External"/><Relationship Id="rId7" Type="http://schemas.openxmlformats.org/officeDocument/2006/relationships/hyperlink" Target="https://en.wikipedia.org/wiki/U-Net" TargetMode="External"/><Relationship Id="rId2" Type="http://schemas.openxmlformats.org/officeDocument/2006/relationships/hyperlink" Target="https://youtu.be/FuStEo3ykB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alejandro.itoaramendia/decoding-the-u-net-a-complete-guide-810b1c6d56d8" TargetMode="External"/><Relationship Id="rId5" Type="http://schemas.openxmlformats.org/officeDocument/2006/relationships/hyperlink" Target="https://www.numberanalytics.com/blog/ultimate-lab-color-guide" TargetMode="External"/><Relationship Id="rId4" Type="http://schemas.openxmlformats.org/officeDocument/2006/relationships/hyperlink" Target="https://youtu.be/vubuBrcAwtY" TargetMode="External"/><Relationship Id="rId9" Type="http://schemas.openxmlformats.org/officeDocument/2006/relationships/hyperlink" Target="https://www.kaggle.com/datasets/theblackmamba31/landscape-image-colorization/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647700" y="1524000"/>
            <a:ext cx="7772400" cy="1524000"/>
          </a:xfrm>
        </p:spPr>
        <p:txBody>
          <a:bodyPr/>
          <a:lstStyle/>
          <a:p>
            <a:pPr eaLnBrk="1" hangingPunct="1"/>
            <a:br>
              <a:rPr lang="en-US" altLang="en-US" sz="3200" dirty="0"/>
            </a:br>
            <a:r>
              <a:rPr lang="en-US" altLang="en-US" sz="2400" dirty="0"/>
              <a:t>Final Project</a:t>
            </a:r>
            <a:br>
              <a:rPr lang="en-US" altLang="en-US" sz="3200" dirty="0"/>
            </a:br>
            <a:r>
              <a:rPr lang="en-US" sz="2800" b="1" dirty="0"/>
              <a:t>Image Colorization using</a:t>
            </a:r>
            <a:br>
              <a:rPr lang="en-US" sz="2800" b="1" dirty="0"/>
            </a:br>
            <a:r>
              <a:rPr lang="en-US" sz="2800" b="1" dirty="0"/>
              <a:t>Convolutional Neural Networks</a:t>
            </a:r>
            <a:br>
              <a:rPr lang="en-US" dirty="0"/>
            </a:br>
            <a:br>
              <a:rPr lang="en-US" altLang="en-US" sz="3200" b="1" dirty="0"/>
            </a:br>
            <a:br>
              <a:rPr lang="en-US" altLang="en-US" sz="3200" b="1" dirty="0"/>
            </a:br>
            <a:endParaRPr lang="en-US" altLang="en-US" sz="3200" b="1" dirty="0"/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333500" y="2438400"/>
            <a:ext cx="64008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Downing, Jeffery</a:t>
            </a:r>
          </a:p>
          <a:p>
            <a:pPr eaLnBrk="1" hangingPunct="1">
              <a:defRPr/>
            </a:pP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307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9225" y="34290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55813" y="5029200"/>
            <a:ext cx="49498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CSCI E-89 Deep Learning, Fall  2025</a:t>
            </a:r>
          </a:p>
          <a:p>
            <a:pPr algn="ctr">
              <a:defRPr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Harvard University Extension School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Prof. Zoran B. Djordjević &amp; prof. Rahul Joglekar</a:t>
            </a:r>
          </a:p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3048001"/>
          </a:xfrm>
        </p:spPr>
        <p:txBody>
          <a:bodyPr/>
          <a:lstStyle/>
          <a:p>
            <a:r>
              <a:rPr lang="en-US" dirty="0"/>
              <a:t>This project explores how convolutional neural networks can be used to add color to black-and-white images.</a:t>
            </a:r>
          </a:p>
          <a:p>
            <a:r>
              <a:rPr lang="en-US" dirty="0"/>
              <a:t>Applications include restoring historical photos, making them more engaging.</a:t>
            </a:r>
          </a:p>
          <a:p>
            <a:r>
              <a:rPr lang="en-US" dirty="0"/>
              <a:t>Color can be added to photos taken in low light environments like security footage.</a:t>
            </a:r>
          </a:p>
          <a:p>
            <a:r>
              <a:rPr lang="en-US" dirty="0"/>
              <a:t>Colorization is a challenging problem, requiring contextual and domain knowledge to accurately color images.</a:t>
            </a:r>
          </a:p>
          <a:p>
            <a:r>
              <a:rPr lang="en-US" dirty="0"/>
              <a:t>This project focused on colorizing two types of images: dogs and landscapes.</a:t>
            </a:r>
          </a:p>
          <a:p>
            <a:r>
              <a:rPr lang="en-US" b="1" dirty="0"/>
              <a:t>Research Question: </a:t>
            </a:r>
            <a:r>
              <a:rPr lang="en-US" dirty="0"/>
              <a:t>How does model architecture and dataset bias impact the performance and generalization of CNN-based image colorization.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2" name="Picture 1" descr="A collage of dogs sitting on grass&#10;&#10;AI-generated content may be incorrect.">
            <a:extLst>
              <a:ext uri="{FF2B5EF4-FFF2-40B4-BE49-F238E27FC236}">
                <a16:creationId xmlns:a16="http://schemas.microsoft.com/office/drawing/2014/main" id="{7A9EB515-876A-921F-A91B-48FF61EFC9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842" y="3886200"/>
            <a:ext cx="4111957" cy="2116365"/>
          </a:xfrm>
          <a:prstGeom prst="rect">
            <a:avLst/>
          </a:prstGeom>
        </p:spPr>
      </p:pic>
      <p:pic>
        <p:nvPicPr>
          <p:cNvPr id="3" name="Picture 2" descr="A comparison of a forest&#10;&#10;AI-generated content may be incorrect.">
            <a:extLst>
              <a:ext uri="{FF2B5EF4-FFF2-40B4-BE49-F238E27FC236}">
                <a16:creationId xmlns:a16="http://schemas.microsoft.com/office/drawing/2014/main" id="{4CBF7EEC-98CB-434D-B227-2317021C6C6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203" y="3886200"/>
            <a:ext cx="4111955" cy="2120953"/>
          </a:xfrm>
          <a:prstGeom prst="rect">
            <a:avLst/>
          </a:prstGeom>
        </p:spPr>
      </p:pic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2CEE287C-B26D-1175-1564-7B57BA60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</p:spTree>
    <p:extLst>
      <p:ext uri="{BB962C8B-B14F-4D97-AF65-F5344CB8AC3E}">
        <p14:creationId xmlns:p14="http://schemas.microsoft.com/office/powerpoint/2010/main" val="9124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F950-1DB1-9CF7-AED6-42C3D8F9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9ED1DEE-4DCA-7821-3438-09A26C2C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History and Challenges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64852B-4911-8624-EB46-7EBB586E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3962400" cy="5105400"/>
          </a:xfrm>
        </p:spPr>
        <p:txBody>
          <a:bodyPr/>
          <a:lstStyle/>
          <a:p>
            <a:r>
              <a:rPr lang="en-US" dirty="0"/>
              <a:t>Image colorization dates back to photography itself in the 1800s.</a:t>
            </a:r>
          </a:p>
          <a:p>
            <a:r>
              <a:rPr lang="en-US" dirty="0"/>
              <a:t>Artists would manually paint color onto images, or use a process like photochrom.</a:t>
            </a:r>
          </a:p>
          <a:p>
            <a:r>
              <a:rPr lang="en-US" dirty="0"/>
              <a:t>Nowadays, colorization is done through software.</a:t>
            </a:r>
          </a:p>
          <a:p>
            <a:r>
              <a:rPr lang="en-US" dirty="0"/>
              <a:t>However, ensuring color accuracy is still a challenge.</a:t>
            </a:r>
          </a:p>
          <a:p>
            <a:pPr lvl="1"/>
            <a:r>
              <a:rPr lang="en-US" dirty="0"/>
              <a:t>Requires contextual knowledge and research</a:t>
            </a:r>
          </a:p>
          <a:p>
            <a:pPr lvl="1"/>
            <a:r>
              <a:rPr lang="en-US" dirty="0"/>
              <a:t>Knowledge of a tribe’s colors is needed to accurately colorize their clothing.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3596B-2E0E-3D34-FE48-E88525DD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21D87B-E8E8-4ECA-3212-3728AD06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@Jeffery Downing</a:t>
            </a:r>
            <a:endParaRPr lang="en-US" altLang="en-US" sz="1200" dirty="0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9A541A-20BF-A894-FDCB-A5898D26EE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200" y="3780053"/>
            <a:ext cx="4151814" cy="2145361"/>
          </a:xfrm>
          <a:prstGeom prst="rect">
            <a:avLst/>
          </a:prstGeom>
        </p:spPr>
      </p:pic>
      <p:pic>
        <p:nvPicPr>
          <p:cNvPr id="13" name="Picture 12" descr="A comparison of a person in a suit&#10;&#10;AI-generated content may be incorrect.">
            <a:extLst>
              <a:ext uri="{FF2B5EF4-FFF2-40B4-BE49-F238E27FC236}">
                <a16:creationId xmlns:a16="http://schemas.microsoft.com/office/drawing/2014/main" id="{946771EF-E88F-B029-F19D-06BDEA49680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8999" y="1109455"/>
            <a:ext cx="3800475" cy="223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7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84CA-5205-1BE4-7058-6C18E505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8024B7-BE58-46E9-749A-577A1051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and Challenges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F95214-4306-90EE-4DB4-E61FD0F8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4495800" cy="5105400"/>
          </a:xfrm>
        </p:spPr>
        <p:txBody>
          <a:bodyPr/>
          <a:lstStyle/>
          <a:p>
            <a:r>
              <a:rPr lang="en-US" dirty="0"/>
              <a:t>However, ensuring color accuracy is still a challenge.</a:t>
            </a:r>
          </a:p>
          <a:p>
            <a:pPr lvl="1"/>
            <a:r>
              <a:rPr lang="en-US" dirty="0"/>
              <a:t>7up’s logo used to be red.  An artist today may accidentally color it green.</a:t>
            </a:r>
          </a:p>
          <a:p>
            <a:pPr lvl="1"/>
            <a:r>
              <a:rPr lang="en-US" dirty="0"/>
              <a:t>The Eiffel tower was painted red before completion.</a:t>
            </a:r>
          </a:p>
          <a:p>
            <a:r>
              <a:rPr lang="en-US" dirty="0"/>
              <a:t>Our CNN models will struggle in these areas as they cannot research or use external knowledge to guide their decisions.</a:t>
            </a:r>
          </a:p>
          <a:p>
            <a:r>
              <a:rPr lang="en-US" dirty="0"/>
              <a:t>CNNs will base its predictions exclusively on its training data, which can add modern-day biases into the model.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C3F04-CE91-7367-8CF7-D2C72618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0181AB-D32F-3F9C-A0F3-1F0883EF3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FF19BB-7206-F454-94ED-AF34EFB028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4985" y="1082203"/>
            <a:ext cx="3124200" cy="23452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BDD98B-DDD1-4854-4586-19E45EF0891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800" y="3733800"/>
            <a:ext cx="3944371" cy="221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3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8C5A-4ACD-CA57-3270-B8413191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CAAD2B-2432-4DD9-DDB0-A6FAC8CC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Running Demo Code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0F8D8F-C71B-635A-25B8-56EC9113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Create a folder called ‘data’ in the same directory as the notebook files.</a:t>
            </a:r>
          </a:p>
          <a:p>
            <a:pPr lvl="0"/>
            <a:r>
              <a:rPr lang="en-US" dirty="0"/>
              <a:t>Download the dog_vs_cats.zip file from Canvas.</a:t>
            </a:r>
          </a:p>
          <a:p>
            <a:pPr lvl="1"/>
            <a:r>
              <a:rPr lang="en-US" u="sng" dirty="0">
                <a:hlinkClick r:id="rId2"/>
              </a:rPr>
              <a:t>https://canvas.harvard.edu/courses/164142/pages/week-5-2?module_item_id=1976712</a:t>
            </a:r>
            <a:endParaRPr lang="en-US" dirty="0"/>
          </a:p>
          <a:p>
            <a:r>
              <a:rPr lang="en-US" dirty="0"/>
              <a:t> </a:t>
            </a:r>
          </a:p>
          <a:p>
            <a:pPr lvl="0"/>
            <a:r>
              <a:rPr lang="en-US" dirty="0"/>
              <a:t>In the dogs_vs_cats.zip file, extract train.zip</a:t>
            </a:r>
          </a:p>
          <a:p>
            <a:pPr lvl="0"/>
            <a:r>
              <a:rPr lang="en-US" dirty="0"/>
              <a:t>In the train.zip file, extract the train folder and put it in the ‘data’ folder.</a:t>
            </a:r>
          </a:p>
          <a:p>
            <a:pPr lvl="0"/>
            <a:r>
              <a:rPr lang="en-US" dirty="0"/>
              <a:t>Download the landscapes dataset from Kaggle.</a:t>
            </a:r>
          </a:p>
          <a:p>
            <a:pPr lvl="1"/>
            <a:r>
              <a:rPr lang="en-US" u="sng" dirty="0">
                <a:hlinkClick r:id="rId3"/>
              </a:rPr>
              <a:t>https://www.kaggle.com/datasets/theblackmamba31/landscape-image-colorization/data</a:t>
            </a:r>
            <a:endParaRPr lang="en-US" dirty="0"/>
          </a:p>
          <a:p>
            <a:pPr lvl="0"/>
            <a:r>
              <a:rPr lang="en-US" dirty="0"/>
              <a:t>Extract the ‘landscape Images’ folder and put it in the ‘data’ folder.</a:t>
            </a:r>
          </a:p>
          <a:p>
            <a:pPr lvl="0"/>
            <a:r>
              <a:rPr lang="en-US" dirty="0"/>
              <a:t>Run all the cells in the </a:t>
            </a:r>
            <a:r>
              <a:rPr lang="en-US" b="1" dirty="0" err="1"/>
              <a:t>Image_Colorization_Data_Setup.ipynb</a:t>
            </a:r>
            <a:r>
              <a:rPr lang="en-US" b="1" dirty="0"/>
              <a:t>.</a:t>
            </a:r>
            <a:endParaRPr lang="en-US" dirty="0"/>
          </a:p>
          <a:p>
            <a:pPr lvl="1"/>
            <a:r>
              <a:rPr lang="en-US" dirty="0"/>
              <a:t>This will create two new folders (‘</a:t>
            </a:r>
            <a:r>
              <a:rPr lang="en-US" dirty="0" err="1"/>
              <a:t>dog_images</a:t>
            </a:r>
            <a:r>
              <a:rPr lang="en-US" dirty="0"/>
              <a:t>’ and ‘</a:t>
            </a:r>
            <a:r>
              <a:rPr lang="en-US" dirty="0" err="1"/>
              <a:t>landscape_images</a:t>
            </a:r>
            <a:r>
              <a:rPr lang="en-US" dirty="0"/>
              <a:t>’) in the main directory.  These contain the training and validation subsets.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47931-91AF-1875-A998-8B1B8B84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9E941D-74C0-37F5-9DFE-DEF6AAFD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</p:spTree>
    <p:extLst>
      <p:ext uri="{BB962C8B-B14F-4D97-AF65-F5344CB8AC3E}">
        <p14:creationId xmlns:p14="http://schemas.microsoft.com/office/powerpoint/2010/main" val="290257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BFCEC-9632-BC7D-EB13-344C086C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1F5779-B704-187E-417C-5C59F3A9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Datasets and Data Preparation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F9D69-194A-8517-668D-8B0EC561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1867C6-A10C-8C25-30B1-D7399BA3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ACB5FF-A342-389B-4EB6-7393BD9B2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2400" y="1200139"/>
            <a:ext cx="4749781" cy="27114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4D8569-7102-A893-8509-4E128012CF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504" y="4346111"/>
            <a:ext cx="4927781" cy="1676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3A4E6A-8AD7-20C2-311C-C10FDA98646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9711" y="1428739"/>
            <a:ext cx="3518437" cy="4267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42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AEA64-ABF6-DCB2-03D0-1CE62D50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1B2856E-9A24-36AC-83E9-03B96A38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1: RGB model for Dogs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5265EE-5A50-9FC9-3134-D2BBD2CC5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424" y="2051082"/>
            <a:ext cx="5410200" cy="2465879"/>
          </a:xfrm>
        </p:spPr>
        <p:txBody>
          <a:bodyPr/>
          <a:lstStyle/>
          <a:p>
            <a:r>
              <a:rPr lang="en-US" dirty="0"/>
              <a:t>I trained my first model using images of dogs.</a:t>
            </a:r>
          </a:p>
          <a:p>
            <a:r>
              <a:rPr lang="en-US" dirty="0"/>
              <a:t>1000 training images and 500 for validation.</a:t>
            </a:r>
          </a:p>
          <a:p>
            <a:r>
              <a:rPr lang="en-US" dirty="0"/>
              <a:t>A grayscale image was used for the input and the RGB color channels were used as the output.</a:t>
            </a:r>
          </a:p>
          <a:p>
            <a:r>
              <a:rPr lang="en-US" dirty="0"/>
              <a:t>An overcomplete autoencoder was used.</a:t>
            </a:r>
          </a:p>
          <a:p>
            <a:pPr lvl="1"/>
            <a:r>
              <a:rPr lang="en-US" dirty="0"/>
              <a:t>Each layer used 3x3 convolutions with a large amount of nodes in the bottleneck.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976F8-83AF-6DD4-DE78-075B85A3A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78B8F-82FF-03FD-63C0-48EA6274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7457EE-1E9D-D1CC-E517-D49959811519}"/>
              </a:ext>
            </a:extLst>
          </p:cNvPr>
          <p:cNvSpPr/>
          <p:nvPr/>
        </p:nvSpPr>
        <p:spPr>
          <a:xfrm>
            <a:off x="6141052" y="1667501"/>
            <a:ext cx="1371160" cy="21889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Grayscale Input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8B584F-1BBF-FC4B-5CB9-8E4560B7263E}"/>
              </a:ext>
            </a:extLst>
          </p:cNvPr>
          <p:cNvSpPr/>
          <p:nvPr/>
        </p:nvSpPr>
        <p:spPr>
          <a:xfrm>
            <a:off x="6407532" y="2215773"/>
            <a:ext cx="838200" cy="231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32 Conv2D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91DAEF-A5D9-0104-9F41-38E30205259E}"/>
              </a:ext>
            </a:extLst>
          </p:cNvPr>
          <p:cNvSpPr/>
          <p:nvPr/>
        </p:nvSpPr>
        <p:spPr>
          <a:xfrm>
            <a:off x="6217912" y="2597029"/>
            <a:ext cx="1225063" cy="2314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64 Conv2D nodes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9593CD-FE7B-7E56-BA5E-4CE68B9A68F6}"/>
              </a:ext>
            </a:extLst>
          </p:cNvPr>
          <p:cNvSpPr/>
          <p:nvPr/>
        </p:nvSpPr>
        <p:spPr>
          <a:xfrm>
            <a:off x="6102005" y="2995330"/>
            <a:ext cx="1462343" cy="231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128 Conv2D nodes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5EF5C0-88CA-F959-2248-3B97274D2FB7}"/>
              </a:ext>
            </a:extLst>
          </p:cNvPr>
          <p:cNvSpPr/>
          <p:nvPr/>
        </p:nvSpPr>
        <p:spPr>
          <a:xfrm>
            <a:off x="5953495" y="3375260"/>
            <a:ext cx="1753895" cy="26818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256 Conv2D nodes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5CB7F9-6432-DE7A-5D46-52CA26F1DF3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826632" y="2447198"/>
            <a:ext cx="3812" cy="149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5A03F5-4DA9-505D-D605-9836B556636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830444" y="2828454"/>
            <a:ext cx="2733" cy="166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A8EC1B-CE64-AB87-EF62-8F0AFCE2C1E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6830443" y="3226756"/>
            <a:ext cx="2734" cy="148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1983C7-6A92-4E40-F54C-4F0D1CB267BB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>
            <a:off x="6826632" y="1886392"/>
            <a:ext cx="0" cy="329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74C2C7-0745-7BB0-9137-3396A7733F24}"/>
              </a:ext>
            </a:extLst>
          </p:cNvPr>
          <p:cNvSpPr/>
          <p:nvPr/>
        </p:nvSpPr>
        <p:spPr>
          <a:xfrm>
            <a:off x="6102005" y="3784566"/>
            <a:ext cx="1437875" cy="255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128 Conv2D nodes</a:t>
            </a:r>
            <a:endParaRPr lang="en-US" sz="10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04C2E1-806F-7E32-6F38-20EC5B002136}"/>
              </a:ext>
            </a:extLst>
          </p:cNvPr>
          <p:cNvSpPr/>
          <p:nvPr/>
        </p:nvSpPr>
        <p:spPr>
          <a:xfrm>
            <a:off x="6220178" y="4169301"/>
            <a:ext cx="1201527" cy="2146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64 Conv2D nodes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BDECFA-49C2-1C3E-3920-2A5906E6EBEC}"/>
              </a:ext>
            </a:extLst>
          </p:cNvPr>
          <p:cNvSpPr/>
          <p:nvPr/>
        </p:nvSpPr>
        <p:spPr>
          <a:xfrm>
            <a:off x="6402173" y="4532335"/>
            <a:ext cx="843559" cy="20471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32 Conv2D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74286C-B9E1-6ECD-6C53-DC581BEA8D25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6820943" y="3643445"/>
            <a:ext cx="9500" cy="14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AAD13F-4699-2081-8796-0C1279656B46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6820942" y="4039998"/>
            <a:ext cx="1" cy="12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92C563-4BA0-CD2B-CB06-4DDF5F259B9C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6820942" y="4383963"/>
            <a:ext cx="3011" cy="148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A79416-5DC3-DD3C-B517-6883FDF7A11D}"/>
              </a:ext>
            </a:extLst>
          </p:cNvPr>
          <p:cNvSpPr/>
          <p:nvPr/>
        </p:nvSpPr>
        <p:spPr>
          <a:xfrm>
            <a:off x="5385116" y="5051137"/>
            <a:ext cx="869289" cy="24222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Red</a:t>
            </a:r>
            <a:endParaRPr lang="en-US" sz="10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1C5D8A-33DB-C4B5-9D89-F9E6760FB048}"/>
              </a:ext>
            </a:extLst>
          </p:cNvPr>
          <p:cNvSpPr/>
          <p:nvPr/>
        </p:nvSpPr>
        <p:spPr>
          <a:xfrm>
            <a:off x="6386297" y="5051137"/>
            <a:ext cx="869289" cy="25543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Blue</a:t>
            </a:r>
            <a:endParaRPr lang="en-US" sz="1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FAB724D-5082-EAD8-5369-34200BFEE695}"/>
              </a:ext>
            </a:extLst>
          </p:cNvPr>
          <p:cNvSpPr/>
          <p:nvPr/>
        </p:nvSpPr>
        <p:spPr>
          <a:xfrm>
            <a:off x="7373527" y="5051138"/>
            <a:ext cx="816611" cy="25543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Green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1FB67E-34F7-378D-9F27-A424E65591A8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 flipH="1">
            <a:off x="6820942" y="4737054"/>
            <a:ext cx="3011" cy="31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5A9520-1335-4301-9C0C-427C576A8BB4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5819761" y="4737054"/>
            <a:ext cx="1004192" cy="31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69FFD9-24AC-E81E-EEC5-EE6A4FAB6F75}"/>
              </a:ext>
            </a:extLst>
          </p:cNvPr>
          <p:cNvCxnSpPr>
            <a:cxnSpLocks/>
            <a:stCxn id="19" idx="2"/>
            <a:endCxn id="25" idx="0"/>
          </p:cNvCxnSpPr>
          <p:nvPr/>
        </p:nvCxnSpPr>
        <p:spPr>
          <a:xfrm>
            <a:off x="6823953" y="4737054"/>
            <a:ext cx="957880" cy="314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Content Placeholder 6">
            <a:extLst>
              <a:ext uri="{FF2B5EF4-FFF2-40B4-BE49-F238E27FC236}">
                <a16:creationId xmlns:a16="http://schemas.microsoft.com/office/drawing/2014/main" id="{D629912E-FFF7-EBEC-3C16-9FDEEE4DF69E}"/>
              </a:ext>
            </a:extLst>
          </p:cNvPr>
          <p:cNvSpPr txBox="1">
            <a:spLocks/>
          </p:cNvSpPr>
          <p:nvPr/>
        </p:nvSpPr>
        <p:spPr bwMode="auto">
          <a:xfrm>
            <a:off x="7619780" y="2360582"/>
            <a:ext cx="1211796" cy="53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 err="1"/>
              <a:t>MaxPooling</a:t>
            </a:r>
            <a:r>
              <a:rPr lang="en-US" sz="1000" dirty="0"/>
              <a:t> at each encoder layer to reduce image size</a:t>
            </a:r>
          </a:p>
        </p:txBody>
      </p:sp>
      <p:sp>
        <p:nvSpPr>
          <p:cNvPr id="109" name="Content Placeholder 6">
            <a:extLst>
              <a:ext uri="{FF2B5EF4-FFF2-40B4-BE49-F238E27FC236}">
                <a16:creationId xmlns:a16="http://schemas.microsoft.com/office/drawing/2014/main" id="{CFE2A513-27C7-5AC4-CF20-3E30B7038C29}"/>
              </a:ext>
            </a:extLst>
          </p:cNvPr>
          <p:cNvSpPr txBox="1">
            <a:spLocks/>
          </p:cNvSpPr>
          <p:nvPr/>
        </p:nvSpPr>
        <p:spPr bwMode="auto">
          <a:xfrm>
            <a:off x="7619780" y="4114753"/>
            <a:ext cx="1211796" cy="53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 err="1"/>
              <a:t>UpSampling</a:t>
            </a:r>
            <a:r>
              <a:rPr lang="en-US" sz="1000" dirty="0"/>
              <a:t> at each decoder layer to increase image size</a:t>
            </a:r>
          </a:p>
        </p:txBody>
      </p:sp>
    </p:spTree>
    <p:extLst>
      <p:ext uri="{BB962C8B-B14F-4D97-AF65-F5344CB8AC3E}">
        <p14:creationId xmlns:p14="http://schemas.microsoft.com/office/powerpoint/2010/main" val="127657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946E-9FB7-22E1-BD13-C5734CAF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803DEF-85CE-6930-127E-1D348A05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1: RGB model for Dogs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AADE0-69E7-422D-16A4-582C6C59D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5410200" cy="1600200"/>
          </a:xfrm>
        </p:spPr>
        <p:txBody>
          <a:bodyPr/>
          <a:lstStyle/>
          <a:p>
            <a:r>
              <a:rPr lang="en-US" dirty="0"/>
              <a:t>Unfortunately, the model did not work.</a:t>
            </a:r>
          </a:p>
          <a:p>
            <a:pPr lvl="1"/>
            <a:r>
              <a:rPr lang="en-US" dirty="0"/>
              <a:t>The model failed to reconstruct the image and only produced a brown box.</a:t>
            </a:r>
          </a:p>
          <a:p>
            <a:r>
              <a:rPr lang="en-US" dirty="0"/>
              <a:t>I reconsidered my approach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958BE-2CDF-14CD-5000-3DD6827A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1CD3C5-0062-CD5D-4A37-38AC21A0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9" name="Picture 8" descr="A dog sitting on grass&#10;&#10;AI-generated content may be incorrect.">
            <a:extLst>
              <a:ext uri="{FF2B5EF4-FFF2-40B4-BE49-F238E27FC236}">
                <a16:creationId xmlns:a16="http://schemas.microsoft.com/office/drawing/2014/main" id="{A4980A76-BDEC-ED8D-6F36-EA9A529289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505200"/>
            <a:ext cx="6934200" cy="225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2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E0FC-FEEE-817A-E95E-E7850D35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FE594A-A053-9A0C-FD5E-68F0B635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2: LAB model for Dogs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E000C4-CE56-3DFB-8ED6-03246D1A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4724400" cy="3200400"/>
          </a:xfrm>
        </p:spPr>
        <p:txBody>
          <a:bodyPr/>
          <a:lstStyle/>
          <a:p>
            <a:r>
              <a:rPr lang="en-US" dirty="0"/>
              <a:t>For my second model, I utilized the LAB color format.</a:t>
            </a:r>
          </a:p>
          <a:p>
            <a:pPr lvl="1"/>
            <a:r>
              <a:rPr lang="en-US" dirty="0"/>
              <a:t>Light channel (L): The grayscale image</a:t>
            </a:r>
          </a:p>
          <a:p>
            <a:pPr lvl="1"/>
            <a:r>
              <a:rPr lang="en-US" dirty="0"/>
              <a:t>Two color channels (AB): The red-green and blue-yellow axes</a:t>
            </a:r>
          </a:p>
          <a:p>
            <a:r>
              <a:rPr lang="en-US" dirty="0"/>
              <a:t>This way the model can focus on colors and does not need to completely reconstruct the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96F78-4FDA-58CC-048A-125AC45E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69368D-DBEC-DC49-1EBB-5FB82F93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BAD0E7-ED43-3CF2-587A-3E914D8EE621}"/>
              </a:ext>
            </a:extLst>
          </p:cNvPr>
          <p:cNvSpPr/>
          <p:nvPr/>
        </p:nvSpPr>
        <p:spPr>
          <a:xfrm>
            <a:off x="6141052" y="1667501"/>
            <a:ext cx="1371160" cy="21889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Grayscale Input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C9B655-40BB-0F54-6459-2345DF248656}"/>
              </a:ext>
            </a:extLst>
          </p:cNvPr>
          <p:cNvSpPr/>
          <p:nvPr/>
        </p:nvSpPr>
        <p:spPr>
          <a:xfrm>
            <a:off x="6407532" y="2215773"/>
            <a:ext cx="838200" cy="231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32 Conv2D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7247FC-4CC5-9AEC-5DD9-A3D692BA66F8}"/>
              </a:ext>
            </a:extLst>
          </p:cNvPr>
          <p:cNvSpPr/>
          <p:nvPr/>
        </p:nvSpPr>
        <p:spPr>
          <a:xfrm>
            <a:off x="6217912" y="2597029"/>
            <a:ext cx="1225063" cy="2314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64 Conv2D nodes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BB3EFC-2EA6-34C8-5724-79A36B55C337}"/>
              </a:ext>
            </a:extLst>
          </p:cNvPr>
          <p:cNvSpPr/>
          <p:nvPr/>
        </p:nvSpPr>
        <p:spPr>
          <a:xfrm>
            <a:off x="6102005" y="2995330"/>
            <a:ext cx="1462343" cy="231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128 Conv2D nodes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3313EF-B345-AF59-DCFA-7B5557E5B6A6}"/>
              </a:ext>
            </a:extLst>
          </p:cNvPr>
          <p:cNvSpPr/>
          <p:nvPr/>
        </p:nvSpPr>
        <p:spPr>
          <a:xfrm>
            <a:off x="5953495" y="3375260"/>
            <a:ext cx="1753895" cy="26818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256 Conv2D nodes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88464C-5D44-87E9-59A7-E14140161E43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826632" y="2447198"/>
            <a:ext cx="3812" cy="149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BCD14F-7D1D-02DC-C20F-78CD2ECEE649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830444" y="2828454"/>
            <a:ext cx="2733" cy="166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62C62B-781B-CCE6-2571-B64266A5BD3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6830443" y="3226756"/>
            <a:ext cx="2734" cy="148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F0D3D70-237D-3D9B-8E9F-CB48494F195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826632" y="1886392"/>
            <a:ext cx="0" cy="329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09B1FC5-7E03-1085-5FF5-E8EE3A771496}"/>
              </a:ext>
            </a:extLst>
          </p:cNvPr>
          <p:cNvSpPr/>
          <p:nvPr/>
        </p:nvSpPr>
        <p:spPr>
          <a:xfrm>
            <a:off x="6102005" y="3784566"/>
            <a:ext cx="1437875" cy="255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128 Conv2D nodes</a:t>
            </a:r>
            <a:endParaRPr lang="en-US" sz="1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E6F8F9-7C03-8B40-5F15-23952B58FEC4}"/>
              </a:ext>
            </a:extLst>
          </p:cNvPr>
          <p:cNvSpPr/>
          <p:nvPr/>
        </p:nvSpPr>
        <p:spPr>
          <a:xfrm>
            <a:off x="6220178" y="4169301"/>
            <a:ext cx="1201527" cy="2146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64 Conv2D nodes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F1A140-0A46-6B6A-2E4F-B4CA2203AC34}"/>
              </a:ext>
            </a:extLst>
          </p:cNvPr>
          <p:cNvSpPr/>
          <p:nvPr/>
        </p:nvSpPr>
        <p:spPr>
          <a:xfrm>
            <a:off x="6402173" y="4532335"/>
            <a:ext cx="843559" cy="20471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32 Conv2D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481D29-FD41-AA0C-BD85-3E95B9E3BCDC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6820943" y="3643445"/>
            <a:ext cx="9500" cy="14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3E684A-8DC9-7A21-E528-5D2FD32E4C20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6820942" y="4039998"/>
            <a:ext cx="1" cy="12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8B4303-08BB-6FA1-518A-316712E1638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820942" y="4383963"/>
            <a:ext cx="3011" cy="148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D3889A-2308-B688-5E13-928D52F6AA95}"/>
              </a:ext>
            </a:extLst>
          </p:cNvPr>
          <p:cNvSpPr/>
          <p:nvPr/>
        </p:nvSpPr>
        <p:spPr>
          <a:xfrm>
            <a:off x="5029200" y="5051137"/>
            <a:ext cx="1600200" cy="31408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 Channel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3E56CE-D58A-6F6C-7284-7FDBF9D558FF}"/>
              </a:ext>
            </a:extLst>
          </p:cNvPr>
          <p:cNvSpPr/>
          <p:nvPr/>
        </p:nvSpPr>
        <p:spPr>
          <a:xfrm>
            <a:off x="6945855" y="5051138"/>
            <a:ext cx="1600200" cy="323954"/>
          </a:xfrm>
          <a:prstGeom prst="roundRect">
            <a:avLst/>
          </a:prstGeom>
          <a:solidFill>
            <a:srgbClr val="FFFF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 Channel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848E90-CD01-9E82-00CD-DA4DC2CCD1DF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H="1">
            <a:off x="5829300" y="4737054"/>
            <a:ext cx="994653" cy="31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199E03-9138-8D59-1D70-3A7D0165C7B5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823953" y="4737054"/>
            <a:ext cx="922002" cy="314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960F32E-2955-D76D-353D-CA7999820E52}"/>
              </a:ext>
            </a:extLst>
          </p:cNvPr>
          <p:cNvSpPr txBox="1">
            <a:spLocks/>
          </p:cNvSpPr>
          <p:nvPr/>
        </p:nvSpPr>
        <p:spPr bwMode="auto">
          <a:xfrm>
            <a:off x="7619780" y="2360582"/>
            <a:ext cx="1211796" cy="53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 err="1"/>
              <a:t>MaxPooling</a:t>
            </a:r>
            <a:r>
              <a:rPr lang="en-US" sz="1000" dirty="0"/>
              <a:t> at each encoder layer to reduce image size</a:t>
            </a: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07340D3B-88BD-E1B4-5146-08664BCCA6C1}"/>
              </a:ext>
            </a:extLst>
          </p:cNvPr>
          <p:cNvSpPr txBox="1">
            <a:spLocks/>
          </p:cNvSpPr>
          <p:nvPr/>
        </p:nvSpPr>
        <p:spPr bwMode="auto">
          <a:xfrm>
            <a:off x="7619780" y="4114753"/>
            <a:ext cx="1211796" cy="53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 err="1"/>
              <a:t>UpSampling</a:t>
            </a:r>
            <a:r>
              <a:rPr lang="en-US" sz="1000" dirty="0"/>
              <a:t> at each decoder layer to increase image size</a:t>
            </a:r>
          </a:p>
        </p:txBody>
      </p:sp>
    </p:spTree>
    <p:extLst>
      <p:ext uri="{BB962C8B-B14F-4D97-AF65-F5344CB8AC3E}">
        <p14:creationId xmlns:p14="http://schemas.microsoft.com/office/powerpoint/2010/main" val="134525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8E9A1-AEC3-0EDE-6AD4-E224BCD3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49139D-DE0F-631B-ECE7-1A84CF4D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2: LAB model for Dogs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07CFFB-4A07-758C-7893-A56986F1D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1686397"/>
          </a:xfrm>
        </p:spPr>
        <p:txBody>
          <a:bodyPr/>
          <a:lstStyle/>
          <a:p>
            <a:r>
              <a:rPr lang="en-US" dirty="0"/>
              <a:t>This model performed much better and produced decent results.</a:t>
            </a:r>
          </a:p>
          <a:p>
            <a:pPr lvl="1"/>
            <a:r>
              <a:rPr lang="en-US" dirty="0"/>
              <a:t>A reasonable color was used for the dog</a:t>
            </a:r>
          </a:p>
          <a:p>
            <a:pPr lvl="1"/>
            <a:r>
              <a:rPr lang="en-US" dirty="0"/>
              <a:t>The backgrounds were colored green regardless of what was there.</a:t>
            </a:r>
          </a:p>
          <a:p>
            <a:r>
              <a:rPr lang="en-US" dirty="0"/>
              <a:t>The model was unable to color other scenes and appears to be heavily influenced by its training data.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80764-5F28-616B-5777-EC53EDF7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969688-C6F0-3D16-F550-7527B695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9" name="Picture 8" descr="A collage of dogs&#10;&#10;AI-generated content may be incorrect.">
            <a:extLst>
              <a:ext uri="{FF2B5EF4-FFF2-40B4-BE49-F238E27FC236}">
                <a16:creationId xmlns:a16="http://schemas.microsoft.com/office/drawing/2014/main" id="{6A85ABF8-A575-AA93-93DC-D4886A94D5F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75" y="2857741"/>
            <a:ext cx="6703125" cy="1686397"/>
          </a:xfrm>
          <a:prstGeom prst="rect">
            <a:avLst/>
          </a:prstGeom>
        </p:spPr>
      </p:pic>
      <p:pic>
        <p:nvPicPr>
          <p:cNvPr id="8" name="Picture 7" descr="A collage of dogs&#10;&#10;AI-generated content may be incorrect.">
            <a:extLst>
              <a:ext uri="{FF2B5EF4-FFF2-40B4-BE49-F238E27FC236}">
                <a16:creationId xmlns:a16="http://schemas.microsoft.com/office/drawing/2014/main" id="{DACA54E9-EC7F-CB8A-4AA7-C80CB94290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74" y="4695022"/>
            <a:ext cx="6703126" cy="168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F8A8E-8036-1820-7A1F-EE058FFB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64CB06-E800-FE06-0C2F-77404310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2: LAB model for Dogs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F9C20-F107-2725-1D68-55B359FF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C0F820-F3CD-4B38-D780-5E5AA18F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11" name="Picture 10" descr="A collage of a dog&#10;&#10;AI-generated content may be incorrect.">
            <a:extLst>
              <a:ext uri="{FF2B5EF4-FFF2-40B4-BE49-F238E27FC236}">
                <a16:creationId xmlns:a16="http://schemas.microsoft.com/office/drawing/2014/main" id="{C2328BF3-0578-AA07-85E9-2C955547FCF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600" y="2209800"/>
            <a:ext cx="7239000" cy="1821214"/>
          </a:xfrm>
          <a:prstGeom prst="rect">
            <a:avLst/>
          </a:prstGeom>
        </p:spPr>
      </p:pic>
      <p:pic>
        <p:nvPicPr>
          <p:cNvPr id="13" name="Picture 12" descr="A collage of a dog&#10;&#10;AI-generated content may be incorrect.">
            <a:extLst>
              <a:ext uri="{FF2B5EF4-FFF2-40B4-BE49-F238E27FC236}">
                <a16:creationId xmlns:a16="http://schemas.microsoft.com/office/drawing/2014/main" id="{BA325854-66BC-F661-5CE8-7949D81844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600" y="4084159"/>
            <a:ext cx="7239000" cy="1821214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9D47F6C4-177A-4827-B5C5-A51838CA9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838200"/>
          </a:xfrm>
        </p:spPr>
        <p:txBody>
          <a:bodyPr/>
          <a:lstStyle/>
          <a:p>
            <a:r>
              <a:rPr lang="en-US" dirty="0"/>
              <a:t>Sometimes the model would apply patches of green to the dog itself</a:t>
            </a:r>
          </a:p>
          <a:p>
            <a:r>
              <a:rPr lang="en-US" dirty="0"/>
              <a:t>In one image, the model painted the white concrete green</a:t>
            </a:r>
          </a:p>
        </p:txBody>
      </p:sp>
    </p:spTree>
    <p:extLst>
      <p:ext uri="{BB962C8B-B14F-4D97-AF65-F5344CB8AC3E}">
        <p14:creationId xmlns:p14="http://schemas.microsoft.com/office/powerpoint/2010/main" val="268706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E837-AA51-BD89-EE7D-132E8E16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26D8C8-1705-899D-4EC7-479A79979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3: Complex LAB model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2BF4DD-9A33-4A7D-0BFA-29247F09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17360"/>
            <a:ext cx="8153400" cy="2286000"/>
          </a:xfrm>
        </p:spPr>
        <p:txBody>
          <a:bodyPr/>
          <a:lstStyle/>
          <a:p>
            <a:r>
              <a:rPr lang="en-US" dirty="0"/>
              <a:t>For my third model, I incorporated the skip connections used in the U-Net architecture.</a:t>
            </a:r>
          </a:p>
          <a:p>
            <a:r>
              <a:rPr lang="en-US" dirty="0"/>
              <a:t>Each layer had two Conv layers with </a:t>
            </a:r>
            <a:r>
              <a:rPr lang="en-US" dirty="0" err="1"/>
              <a:t>BatchNormalization</a:t>
            </a:r>
            <a:endParaRPr lang="en-US" dirty="0"/>
          </a:p>
          <a:p>
            <a:r>
              <a:rPr lang="en-US" dirty="0"/>
              <a:t>The outputs of each encoder block are concatenated with the corresponding decoder block.</a:t>
            </a:r>
          </a:p>
          <a:p>
            <a:pPr lvl="1"/>
            <a:r>
              <a:rPr lang="en-US" dirty="0"/>
              <a:t>This allows the model to reuse any information that may have been lost in the encoder.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74DC7-1CF0-C898-EB52-2A7F91AF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8B60D0-E239-62EF-045B-E4A50041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64D2A03-9CF3-184F-E6FC-A6121B427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86442"/>
            <a:ext cx="4724400" cy="239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8277A6D-0BE7-4E4A-63DC-CF36A524139F}"/>
              </a:ext>
            </a:extLst>
          </p:cNvPr>
          <p:cNvSpPr txBox="1">
            <a:spLocks/>
          </p:cNvSpPr>
          <p:nvPr/>
        </p:nvSpPr>
        <p:spPr bwMode="auto">
          <a:xfrm>
            <a:off x="3733800" y="5951768"/>
            <a:ext cx="1676400" cy="32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U-Net architecture [4]</a:t>
            </a:r>
          </a:p>
        </p:txBody>
      </p:sp>
    </p:spTree>
    <p:extLst>
      <p:ext uri="{BB962C8B-B14F-4D97-AF65-F5344CB8AC3E}">
        <p14:creationId xmlns:p14="http://schemas.microsoft.com/office/powerpoint/2010/main" val="479609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1DC2C-5AF7-C9AA-9795-83FA7420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2B1120-A89C-4090-7C27-D5CAA987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3: Complex LAB model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92FC9B-E27E-B680-9BE6-FC1EFC625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94" y="1471618"/>
            <a:ext cx="3962400" cy="2124863"/>
          </a:xfrm>
        </p:spPr>
        <p:txBody>
          <a:bodyPr/>
          <a:lstStyle/>
          <a:p>
            <a:r>
              <a:rPr lang="en-US" dirty="0"/>
              <a:t>Despite these changes, the model performed worse than Model 2.</a:t>
            </a:r>
          </a:p>
          <a:p>
            <a:r>
              <a:rPr lang="en-US" dirty="0"/>
              <a:t>Given this, I chose to abandon this architecture and continue with the simpler autoencoder.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A3E04-9575-F5BE-A899-8E19EA03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512B7A-C04F-E7A2-D521-8685C1F6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9" name="Picture 8" descr="A collage of dogs&#10;&#10;AI-generated content may be incorrect.">
            <a:extLst>
              <a:ext uri="{FF2B5EF4-FFF2-40B4-BE49-F238E27FC236}">
                <a16:creationId xmlns:a16="http://schemas.microsoft.com/office/drawing/2014/main" id="{74138BC4-518C-14DC-938A-C40B5DCB02E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77144" y="1394505"/>
            <a:ext cx="3413762" cy="1866901"/>
          </a:xfrm>
          <a:prstGeom prst="rect">
            <a:avLst/>
          </a:prstGeom>
        </p:spPr>
      </p:pic>
      <p:pic>
        <p:nvPicPr>
          <p:cNvPr id="12" name="Picture 11" descr="A collage of a dog&#10;&#10;AI-generated content may be incorrect.">
            <a:extLst>
              <a:ext uri="{FF2B5EF4-FFF2-40B4-BE49-F238E27FC236}">
                <a16:creationId xmlns:a16="http://schemas.microsoft.com/office/drawing/2014/main" id="{81A6267A-B841-C5FA-E3E9-4D4941273EE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93325" y="3733800"/>
            <a:ext cx="3581400" cy="1958578"/>
          </a:xfrm>
          <a:prstGeom prst="rect">
            <a:avLst/>
          </a:prstGeom>
        </p:spPr>
      </p:pic>
      <p:pic>
        <p:nvPicPr>
          <p:cNvPr id="15" name="Picture 14" descr="A collage of dogs&#10;&#10;AI-generated content may be incorrect.">
            <a:extLst>
              <a:ext uri="{FF2B5EF4-FFF2-40B4-BE49-F238E27FC236}">
                <a16:creationId xmlns:a16="http://schemas.microsoft.com/office/drawing/2014/main" id="{5B22E839-377F-3872-81D2-FB70ED63465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3763473"/>
            <a:ext cx="3465616" cy="18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70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50DF5-A64D-B906-B1B5-595DB4AE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33B4C82-A965-2631-D103-2406A49E9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4: LAB model for Landscapes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8EA181-DF10-0E43-98E4-075FE1FD5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001000" cy="2808074"/>
          </a:xfrm>
        </p:spPr>
        <p:txBody>
          <a:bodyPr/>
          <a:lstStyle/>
          <a:p>
            <a:r>
              <a:rPr lang="en-US" dirty="0"/>
              <a:t>It was clear that models relied heavily on their training set to make predictions</a:t>
            </a:r>
          </a:p>
          <a:p>
            <a:r>
              <a:rPr lang="en-US" dirty="0"/>
              <a:t>This time, I used a variety of different landscapes including:</a:t>
            </a:r>
          </a:p>
          <a:p>
            <a:pPr lvl="1"/>
            <a:r>
              <a:rPr lang="en-US" dirty="0"/>
              <a:t>Beaches.  Oceans.  Forests, and Urbain buildings.</a:t>
            </a:r>
          </a:p>
          <a:p>
            <a:r>
              <a:rPr lang="en-US" dirty="0"/>
              <a:t>The goal was to see if the model’s architecture could learn the colors of each environment.</a:t>
            </a:r>
          </a:p>
          <a:p>
            <a:r>
              <a:rPr lang="en-US" dirty="0"/>
              <a:t>Unfortunately, the model struggled to learn each environment’s colors and defaulted to blue and yellow tones.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70129-B7E5-7C1E-F765-13CA0EE4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59E84C-7534-93E3-A348-F6B854B8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AA0AA9-6E4E-4C91-5EC3-DBF9ED659D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250" y="4114800"/>
            <a:ext cx="7429499" cy="186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41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2486B-0183-7F68-496E-24EB63D1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13C515-5082-5079-9B44-47C36465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4: LAB model for Landscapes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8F398-4408-65A3-C75C-BC931175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C417E0-C69A-6D39-A7BC-5979EB26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DF2FD-9490-6EF4-A119-7DC7E84C966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390" y="725364"/>
            <a:ext cx="7238998" cy="1821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D783D-E7AF-EC04-FA49-045477A963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390" y="2628061"/>
            <a:ext cx="7238998" cy="18212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7985C4-95CE-0F31-048A-FBF4166BB1B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390" y="4508971"/>
            <a:ext cx="7238998" cy="180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10B71-14B6-15ED-9C5B-9C66DFAA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0C13C7-8DCA-560E-85E8-B4379C5A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5: VGG16 model for Landscapes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CDDB06-8B58-7F5D-F53A-333887BA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607" y="1728591"/>
            <a:ext cx="4114800" cy="3733800"/>
          </a:xfrm>
        </p:spPr>
        <p:txBody>
          <a:bodyPr/>
          <a:lstStyle/>
          <a:p>
            <a:r>
              <a:rPr lang="en-US" dirty="0"/>
              <a:t>For my final model, I implemented a transfer learning model</a:t>
            </a:r>
          </a:p>
          <a:p>
            <a:r>
              <a:rPr lang="en-US" dirty="0"/>
              <a:t>VGG16 was used as the encoder</a:t>
            </a:r>
          </a:p>
          <a:p>
            <a:r>
              <a:rPr lang="en-US" dirty="0"/>
              <a:t>The grayscale image was copied to all three color channels to use as input for VGG16</a:t>
            </a:r>
          </a:p>
          <a:p>
            <a:r>
              <a:rPr lang="en-US" dirty="0"/>
              <a:t>The “block5_conv3” layer was extracted.</a:t>
            </a:r>
          </a:p>
          <a:p>
            <a:r>
              <a:rPr lang="en-US" dirty="0"/>
              <a:t>The same decoder as the previous models was used.</a:t>
            </a:r>
          </a:p>
          <a:p>
            <a:r>
              <a:rPr lang="en-US" dirty="0"/>
              <a:t>The VGG16 layers were frozen.  Only the decoder was trained.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B61F4-6458-AD80-8E41-E20C5C70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4CAABA-9AF5-DD4E-3CC8-7AFC2CBA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7EEFF9-F80E-F9A5-F17A-E92261D1D5A9}"/>
              </a:ext>
            </a:extLst>
          </p:cNvPr>
          <p:cNvSpPr/>
          <p:nvPr/>
        </p:nvSpPr>
        <p:spPr>
          <a:xfrm>
            <a:off x="6141052" y="1667501"/>
            <a:ext cx="1371160" cy="21889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Grayscale Input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470345-DC9D-ABB5-1230-CC4A3DBCB138}"/>
              </a:ext>
            </a:extLst>
          </p:cNvPr>
          <p:cNvSpPr/>
          <p:nvPr/>
        </p:nvSpPr>
        <p:spPr>
          <a:xfrm>
            <a:off x="5953495" y="3375260"/>
            <a:ext cx="1753895" cy="26818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256 Conv2D nodes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5E48CB-E108-C180-40F4-69CDB93B412C}"/>
              </a:ext>
            </a:extLst>
          </p:cNvPr>
          <p:cNvSpPr/>
          <p:nvPr/>
        </p:nvSpPr>
        <p:spPr>
          <a:xfrm>
            <a:off x="6102005" y="3784566"/>
            <a:ext cx="1437875" cy="255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128 Conv2D nodes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3A992F-C3A0-0AD6-623F-B0312A7110D9}"/>
              </a:ext>
            </a:extLst>
          </p:cNvPr>
          <p:cNvSpPr/>
          <p:nvPr/>
        </p:nvSpPr>
        <p:spPr>
          <a:xfrm>
            <a:off x="6220178" y="4169301"/>
            <a:ext cx="1201527" cy="2146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64 Conv2D nodes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286C9A-DD63-F20A-9A3B-0DC201C7B071}"/>
              </a:ext>
            </a:extLst>
          </p:cNvPr>
          <p:cNvSpPr/>
          <p:nvPr/>
        </p:nvSpPr>
        <p:spPr>
          <a:xfrm>
            <a:off x="6402173" y="4532335"/>
            <a:ext cx="843559" cy="20471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32 Conv2D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A71234-7DA2-4C7C-BB5A-DF48DDBD2204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6820943" y="3643445"/>
            <a:ext cx="9500" cy="14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2D308C-E628-A043-D713-BF3627969A64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6820942" y="4039998"/>
            <a:ext cx="1" cy="12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453910-5876-A8ED-01FF-AFA11A2CB2A8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820942" y="4383963"/>
            <a:ext cx="3011" cy="148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D6CBD3-22A6-FC5D-B6E6-5CB84D87E1EC}"/>
              </a:ext>
            </a:extLst>
          </p:cNvPr>
          <p:cNvSpPr/>
          <p:nvPr/>
        </p:nvSpPr>
        <p:spPr>
          <a:xfrm>
            <a:off x="5029200" y="5051137"/>
            <a:ext cx="1600200" cy="31408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 Channel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CC5C90B-6383-3C06-EB71-7D215262610F}"/>
              </a:ext>
            </a:extLst>
          </p:cNvPr>
          <p:cNvSpPr/>
          <p:nvPr/>
        </p:nvSpPr>
        <p:spPr>
          <a:xfrm>
            <a:off x="6945855" y="5051138"/>
            <a:ext cx="1600200" cy="323954"/>
          </a:xfrm>
          <a:prstGeom prst="roundRect">
            <a:avLst/>
          </a:prstGeom>
          <a:solidFill>
            <a:srgbClr val="FFFF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 Channel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8BB5B7-5BF8-C385-15BC-81B71F749565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H="1">
            <a:off x="5829300" y="4737054"/>
            <a:ext cx="994653" cy="31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FA0DC6-D062-F95A-DE23-7BD6385B536B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6823953" y="4737054"/>
            <a:ext cx="922002" cy="314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664695AD-DE4B-25F2-9AFA-C4BA9CD7FF3F}"/>
              </a:ext>
            </a:extLst>
          </p:cNvPr>
          <p:cNvSpPr txBox="1">
            <a:spLocks/>
          </p:cNvSpPr>
          <p:nvPr/>
        </p:nvSpPr>
        <p:spPr bwMode="auto">
          <a:xfrm>
            <a:off x="7619780" y="4114753"/>
            <a:ext cx="1211796" cy="53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 err="1"/>
              <a:t>UpSampling</a:t>
            </a:r>
            <a:r>
              <a:rPr lang="en-US" sz="1000" dirty="0"/>
              <a:t> at each decoder layer to increase image size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CECFCFA-3B9F-BE49-7799-70E3C188DF6F}"/>
              </a:ext>
            </a:extLst>
          </p:cNvPr>
          <p:cNvSpPr/>
          <p:nvPr/>
        </p:nvSpPr>
        <p:spPr>
          <a:xfrm>
            <a:off x="6135361" y="2112882"/>
            <a:ext cx="1371160" cy="21889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Grayscale Copy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540DB43-5F7E-B85D-8B50-B96C9D43B582}"/>
              </a:ext>
            </a:extLst>
          </p:cNvPr>
          <p:cNvSpPr/>
          <p:nvPr/>
        </p:nvSpPr>
        <p:spPr>
          <a:xfrm>
            <a:off x="4668100" y="2106590"/>
            <a:ext cx="1371160" cy="21889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Grayscale Copy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58D630-0683-0887-DF6A-ADAF157D7F0B}"/>
              </a:ext>
            </a:extLst>
          </p:cNvPr>
          <p:cNvSpPr/>
          <p:nvPr/>
        </p:nvSpPr>
        <p:spPr>
          <a:xfrm>
            <a:off x="7619780" y="2106590"/>
            <a:ext cx="1371160" cy="21889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Grayscale Copy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59448F2-2393-3710-25C1-942563EF2E98}"/>
              </a:ext>
            </a:extLst>
          </p:cNvPr>
          <p:cNvSpPr/>
          <p:nvPr/>
        </p:nvSpPr>
        <p:spPr>
          <a:xfrm>
            <a:off x="6135361" y="2542870"/>
            <a:ext cx="1371160" cy="2188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VGG16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68C6EEC-F396-4CF6-662B-D59D3554D987}"/>
              </a:ext>
            </a:extLst>
          </p:cNvPr>
          <p:cNvSpPr/>
          <p:nvPr/>
        </p:nvSpPr>
        <p:spPr>
          <a:xfrm>
            <a:off x="6138330" y="2917287"/>
            <a:ext cx="1371160" cy="2188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block5_conv3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C7EEE1-3E2A-62D7-EE03-A5254910DE34}"/>
              </a:ext>
            </a:extLst>
          </p:cNvPr>
          <p:cNvCxnSpPr>
            <a:stCxn id="3" idx="2"/>
            <a:endCxn id="29" idx="0"/>
          </p:cNvCxnSpPr>
          <p:nvPr/>
        </p:nvCxnSpPr>
        <p:spPr>
          <a:xfrm flipH="1">
            <a:off x="6820941" y="1886392"/>
            <a:ext cx="5691" cy="226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C8726B-59E0-E023-A0F1-AAB27F25425A}"/>
              </a:ext>
            </a:extLst>
          </p:cNvPr>
          <p:cNvCxnSpPr>
            <a:stCxn id="3" idx="2"/>
            <a:endCxn id="30" idx="0"/>
          </p:cNvCxnSpPr>
          <p:nvPr/>
        </p:nvCxnSpPr>
        <p:spPr>
          <a:xfrm flipH="1">
            <a:off x="5353680" y="1886392"/>
            <a:ext cx="1472952" cy="220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6E1885B-6FEA-4307-72F1-6DED6D7AE954}"/>
              </a:ext>
            </a:extLst>
          </p:cNvPr>
          <p:cNvCxnSpPr>
            <a:stCxn id="3" idx="2"/>
            <a:endCxn id="31" idx="0"/>
          </p:cNvCxnSpPr>
          <p:nvPr/>
        </p:nvCxnSpPr>
        <p:spPr>
          <a:xfrm>
            <a:off x="6826632" y="1886392"/>
            <a:ext cx="1478728" cy="220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2E80367-603F-BC99-294C-71D7E27408C6}"/>
              </a:ext>
            </a:extLst>
          </p:cNvPr>
          <p:cNvCxnSpPr>
            <a:stCxn id="30" idx="2"/>
            <a:endCxn id="33" idx="0"/>
          </p:cNvCxnSpPr>
          <p:nvPr/>
        </p:nvCxnSpPr>
        <p:spPr>
          <a:xfrm>
            <a:off x="5353680" y="2325481"/>
            <a:ext cx="1467261" cy="217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75EAB8C-81E4-7EB2-00AD-01371CBB39C7}"/>
              </a:ext>
            </a:extLst>
          </p:cNvPr>
          <p:cNvCxnSpPr>
            <a:stCxn id="29" idx="2"/>
            <a:endCxn id="33" idx="0"/>
          </p:cNvCxnSpPr>
          <p:nvPr/>
        </p:nvCxnSpPr>
        <p:spPr>
          <a:xfrm>
            <a:off x="6820941" y="2331773"/>
            <a:ext cx="0" cy="211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1969127-DFCE-CF5C-0459-9C6E74E5B4DA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 flipH="1">
            <a:off x="6820941" y="2325481"/>
            <a:ext cx="1484419" cy="217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72DD5AC-484C-1C12-9634-197638A98117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6820941" y="2761761"/>
            <a:ext cx="2969" cy="155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27D880D-4032-973F-F80E-74B31721B0A0}"/>
              </a:ext>
            </a:extLst>
          </p:cNvPr>
          <p:cNvCxnSpPr>
            <a:stCxn id="34" idx="2"/>
            <a:endCxn id="10" idx="0"/>
          </p:cNvCxnSpPr>
          <p:nvPr/>
        </p:nvCxnSpPr>
        <p:spPr>
          <a:xfrm>
            <a:off x="6823910" y="3136178"/>
            <a:ext cx="6533" cy="239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447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CD8AA-7973-F895-802A-982583A7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1F7157-0E1A-74EE-7356-9E4A391D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5: VGG16 model for Landscapes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C228DF-287E-D1E5-7848-37E9F28A6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5607"/>
            <a:ext cx="8001000" cy="1524000"/>
          </a:xfrm>
        </p:spPr>
        <p:txBody>
          <a:bodyPr/>
          <a:lstStyle/>
          <a:p>
            <a:r>
              <a:rPr lang="en-US" dirty="0"/>
              <a:t>While not perfect, the results improved significantly.</a:t>
            </a:r>
          </a:p>
          <a:p>
            <a:r>
              <a:rPr lang="en-US" dirty="0"/>
              <a:t>The model was now able to use colors other than blue and yellow</a:t>
            </a:r>
          </a:p>
          <a:p>
            <a:r>
              <a:rPr lang="en-US" dirty="0"/>
              <a:t>The model could color forests with green for leaves, and brown for dirt</a:t>
            </a:r>
          </a:p>
          <a:p>
            <a:r>
              <a:rPr lang="en-US" dirty="0"/>
              <a:t>The model colored the brick building red.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C4B00-EDA8-5F53-7706-F1869113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16D33E-9540-96B5-7A6B-E1F7AC28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66F1F8-2215-E420-3E38-279E2D895D6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502" y="2547525"/>
            <a:ext cx="7238995" cy="1821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2DE967-C7FF-4E49-E6F0-378C6215D9C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503" y="4425413"/>
            <a:ext cx="7238994" cy="182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9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E44C-48B1-1CD6-E01A-FD4348CB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89F203-7C65-E499-F26E-6B37BAC9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5: VGG16 model for Landscapes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2CBBD-5416-5EAA-83A8-62971FC2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F9B396-034A-F792-7081-A07763B7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D7D567-C890-5673-D9C9-40203187E0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392" y="2514600"/>
            <a:ext cx="7238994" cy="18212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751110-6CA8-BCA2-5D87-894964CF65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391" y="4508971"/>
            <a:ext cx="7238995" cy="1808111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72110EA9-0314-ED95-5735-9D8B3347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5881"/>
            <a:ext cx="8001000" cy="1410119"/>
          </a:xfrm>
        </p:spPr>
        <p:txBody>
          <a:bodyPr/>
          <a:lstStyle/>
          <a:p>
            <a:r>
              <a:rPr lang="en-US" dirty="0"/>
              <a:t>The model still had some difficulties with coloring in the ocean, and snow.</a:t>
            </a:r>
          </a:p>
          <a:p>
            <a:pPr lvl="1"/>
            <a:r>
              <a:rPr lang="en-US" dirty="0"/>
              <a:t>It was able to identify blue as an important color</a:t>
            </a:r>
          </a:p>
          <a:p>
            <a:r>
              <a:rPr lang="en-US" dirty="0"/>
              <a:t>Transfer learning allowed the model to identify more features and learn diverse color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541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F8EDC-E9D5-294A-C320-6CD5008A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56A296-55B8-2CC7-F1D3-6D2DBBF1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107F90-D48E-A85E-3AA8-958D370E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r>
              <a:rPr lang="en-US" dirty="0"/>
              <a:t>Overcomplete autoencoders worked well with identifying color patterns, but increasing model complexity did not improve performance.</a:t>
            </a:r>
          </a:p>
          <a:p>
            <a:r>
              <a:rPr lang="en-US" dirty="0"/>
              <a:t>Utilizing LAB color channels helped the model focus on predicting color rather than reconstructing full RGB images.</a:t>
            </a:r>
          </a:p>
          <a:p>
            <a:r>
              <a:rPr lang="en-US" dirty="0"/>
              <a:t>Models are highly dependent on the training set, making generalization outside the training domain unreliable.</a:t>
            </a:r>
          </a:p>
          <a:p>
            <a:r>
              <a:rPr lang="en-US" dirty="0"/>
              <a:t>Transfer learning improved performance of models trained with different types of images in its training set.</a:t>
            </a:r>
          </a:p>
          <a:p>
            <a:pPr marL="0" indent="0">
              <a:buNone/>
            </a:pPr>
            <a:r>
              <a:rPr lang="en-US" b="1" dirty="0"/>
              <a:t>Future work</a:t>
            </a:r>
          </a:p>
          <a:p>
            <a:r>
              <a:rPr lang="en-US" dirty="0"/>
              <a:t>Expand the size and diversity of the training set.</a:t>
            </a:r>
          </a:p>
          <a:p>
            <a:r>
              <a:rPr lang="en-US" dirty="0"/>
              <a:t>Tune the pretrained VGG16 layers instead of freezing them.</a:t>
            </a:r>
          </a:p>
          <a:p>
            <a:r>
              <a:rPr lang="en-US" dirty="0"/>
              <a:t>Incorporate a form of human guidance to guide the model.</a:t>
            </a:r>
          </a:p>
          <a:p>
            <a:pPr lvl="1"/>
            <a:r>
              <a:rPr lang="en-US" dirty="0"/>
              <a:t>Allowing the user to specify objects and their colors.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EFFAC-3AC3-B488-8E3E-E90FD541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002410-A536-5D03-21D1-3B29CF440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</p:spTree>
    <p:extLst>
      <p:ext uri="{BB962C8B-B14F-4D97-AF65-F5344CB8AC3E}">
        <p14:creationId xmlns:p14="http://schemas.microsoft.com/office/powerpoint/2010/main" val="3763685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YouTube URLs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1143000"/>
          </a:xfrm>
        </p:spPr>
        <p:txBody>
          <a:bodyPr/>
          <a:lstStyle/>
          <a:p>
            <a:r>
              <a:rPr lang="en-US" dirty="0"/>
              <a:t>2 minute (short):  </a:t>
            </a:r>
            <a:r>
              <a:rPr lang="en-US" dirty="0">
                <a:hlinkClick r:id="rId2"/>
              </a:rPr>
              <a:t>https://youtu.be/FuStEo3ykBc</a:t>
            </a:r>
            <a:endParaRPr lang="en-US" dirty="0"/>
          </a:p>
          <a:p>
            <a:r>
              <a:rPr lang="en-US"/>
              <a:t>15 </a:t>
            </a:r>
            <a:r>
              <a:rPr lang="en-US" dirty="0"/>
              <a:t>minutes (long): </a:t>
            </a:r>
            <a:r>
              <a:rPr lang="en-US" dirty="0">
                <a:hlinkClick r:id="rId3"/>
              </a:rPr>
              <a:t>https://youtu.be/4kajcQwvSkM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5203C-416A-B009-D689-ED37A5BB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@Jeffery Downing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9003FC6F-9C42-92E7-45E4-83FDC43C7A7A}"/>
              </a:ext>
            </a:extLst>
          </p:cNvPr>
          <p:cNvSpPr txBox="1">
            <a:spLocks/>
          </p:cNvSpPr>
          <p:nvPr/>
        </p:nvSpPr>
        <p:spPr bwMode="auto">
          <a:xfrm>
            <a:off x="457200" y="1981200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kern="1200" baseline="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hlink"/>
                </a:solidFill>
                <a:latin typeface="Calibri" pitchFamily="34" charset="0"/>
              </a:defRPr>
            </a:lvl9pPr>
          </a:lstStyle>
          <a:p>
            <a:r>
              <a:rPr lang="en-US" dirty="0"/>
              <a:t>Sources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86FE777-949A-6FCE-92D7-5BD2DC4DF6D4}"/>
              </a:ext>
            </a:extLst>
          </p:cNvPr>
          <p:cNvSpPr txBox="1">
            <a:spLocks/>
          </p:cNvSpPr>
          <p:nvPr/>
        </p:nvSpPr>
        <p:spPr bwMode="auto">
          <a:xfrm>
            <a:off x="487878" y="2697162"/>
            <a:ext cx="8229600" cy="332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2D050"/>
              </a:buClr>
              <a:buFont typeface="Wingdings" pitchFamily="2" charset="2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/>
              <a:t>[1] Vox.  How obsessive artists colorize old photos </a:t>
            </a:r>
            <a:r>
              <a:rPr lang="en-US" sz="1300" u="sng" dirty="0">
                <a:hlinkClick r:id="rId4"/>
              </a:rPr>
              <a:t>https://youtu.be/vubuBrcAwtY</a:t>
            </a:r>
            <a:br>
              <a:rPr lang="en-US" sz="1300" u="sng" dirty="0"/>
            </a:br>
            <a:endParaRPr lang="en-US" sz="1300" dirty="0"/>
          </a:p>
          <a:p>
            <a:r>
              <a:rPr lang="en-US" sz="1300" dirty="0"/>
              <a:t>[2] </a:t>
            </a:r>
            <a:r>
              <a:rPr lang="en-US" sz="1300" dirty="0" err="1"/>
              <a:t>NumberAnalytics</a:t>
            </a:r>
            <a:r>
              <a:rPr lang="en-US" sz="1300" dirty="0"/>
              <a:t>.  The Ultimate LAB Color Guide </a:t>
            </a:r>
            <a:r>
              <a:rPr lang="en-US" sz="1300" u="sng" dirty="0">
                <a:hlinkClick r:id="rId5"/>
              </a:rPr>
              <a:t>https://www.numberanalytics.com/blog/ultimate-lab-color-guide</a:t>
            </a:r>
            <a:br>
              <a:rPr lang="en-US" sz="1300" u="sng" dirty="0"/>
            </a:br>
            <a:endParaRPr lang="en-US" sz="1300" dirty="0"/>
          </a:p>
          <a:p>
            <a:r>
              <a:rPr lang="en-US" sz="1300" dirty="0"/>
              <a:t>[3] medium.com. The U-Net: A Complete Guide </a:t>
            </a:r>
            <a:r>
              <a:rPr lang="en-US" sz="1300" u="sng" dirty="0">
                <a:hlinkClick r:id="rId6"/>
              </a:rPr>
              <a:t>https://medium.com/@alejandro.itoaramendia/decoding-the-u-net-a-complete-guide-810b1c6d56d8</a:t>
            </a:r>
            <a:br>
              <a:rPr lang="en-US" sz="1300" u="sng" dirty="0"/>
            </a:br>
            <a:endParaRPr lang="en-US" sz="1300" u="sng" dirty="0"/>
          </a:p>
          <a:p>
            <a:r>
              <a:rPr lang="en-US" sz="1300" dirty="0"/>
              <a:t>[4] Wikipedia: U-Net. </a:t>
            </a:r>
            <a:r>
              <a:rPr lang="en-US" sz="1300" dirty="0">
                <a:hlinkClick r:id="rId7"/>
              </a:rPr>
              <a:t>https://en.wikipedia.org/wiki/U-Net</a:t>
            </a:r>
            <a:br>
              <a:rPr lang="en-US" sz="1300" dirty="0"/>
            </a:br>
            <a:endParaRPr lang="en-US" sz="1300" dirty="0"/>
          </a:p>
          <a:p>
            <a:r>
              <a:rPr lang="en-US" sz="1300" dirty="0" err="1"/>
              <a:t>Dog_vs_cats</a:t>
            </a:r>
            <a:r>
              <a:rPr lang="en-US" sz="1300" dirty="0"/>
              <a:t> dataset: </a:t>
            </a:r>
            <a:r>
              <a:rPr lang="en-US" sz="1300" u="sng" dirty="0">
                <a:hlinkClick r:id="rId8"/>
              </a:rPr>
              <a:t>https://canvas.harvard.edu/courses/164142/pages/week-5-2?module_item_id=1976712</a:t>
            </a:r>
            <a:endParaRPr lang="en-US" sz="1300" dirty="0"/>
          </a:p>
          <a:p>
            <a:r>
              <a:rPr lang="en-US" sz="1300" dirty="0"/>
              <a:t>Landscape dataset: </a:t>
            </a:r>
            <a:r>
              <a:rPr lang="en-US" sz="1300" u="sng" dirty="0">
                <a:hlinkClick r:id="rId9"/>
              </a:rPr>
              <a:t>https://www.kaggle.com/datasets/theblackmamba31/landscape-image-colorization/data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10508</TotalTime>
  <Words>1530</Words>
  <Application>Microsoft Office PowerPoint</Application>
  <PresentationFormat>On-screen Show (4:3)</PresentationFormat>
  <Paragraphs>193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Office Theme</vt:lpstr>
      <vt:lpstr> Final Project Image Colorization using Convolutional Neural Networks   </vt:lpstr>
      <vt:lpstr>Introduction</vt:lpstr>
      <vt:lpstr>History and Challenges</vt:lpstr>
      <vt:lpstr>History and Challenges</vt:lpstr>
      <vt:lpstr>Running Demo Code</vt:lpstr>
      <vt:lpstr>Datasets and Data Preparation</vt:lpstr>
      <vt:lpstr>Model 1: RGB model for Dogs</vt:lpstr>
      <vt:lpstr>Model 1: RGB model for Dogs</vt:lpstr>
      <vt:lpstr>Model 2: LAB model for Dogs</vt:lpstr>
      <vt:lpstr>Model 2: LAB model for Dogs</vt:lpstr>
      <vt:lpstr>Model 2: LAB model for Dogs</vt:lpstr>
      <vt:lpstr>Model 3: Complex LAB model</vt:lpstr>
      <vt:lpstr>Model 3: Complex LAB model</vt:lpstr>
      <vt:lpstr>Model 4: LAB model for Landscapes</vt:lpstr>
      <vt:lpstr>Model 4: LAB model for Landscapes</vt:lpstr>
      <vt:lpstr>Model 5: VGG16 model for Landscapes</vt:lpstr>
      <vt:lpstr>Model 5: VGG16 model for Landscapes</vt:lpstr>
      <vt:lpstr>Model 5: VGG16 model for Landscapes</vt:lpstr>
      <vt:lpstr>Conclusion and Future Work</vt:lpstr>
      <vt:lpstr>YouTube URLs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Jeffery Downing</cp:lastModifiedBy>
  <cp:revision>913</cp:revision>
  <cp:lastPrinted>2012-11-30T20:59:45Z</cp:lastPrinted>
  <dcterms:created xsi:type="dcterms:W3CDTF">2006-08-16T00:00:00Z</dcterms:created>
  <dcterms:modified xsi:type="dcterms:W3CDTF">2025-12-16T17:26:18Z</dcterms:modified>
</cp:coreProperties>
</file>